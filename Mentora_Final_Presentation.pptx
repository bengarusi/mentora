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110" d="100"/>
          <a:sy n="110" d="100"/>
        </p:scale>
        <p:origin x="53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6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bengarusi/Mentor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ptxbuild/assets/logo_full.png"/>
          <p:cNvPicPr>
            <a:picLocks noChangeAspect="1"/>
          </p:cNvPicPr>
          <p:nvPr/>
        </p:nvPicPr>
        <p:blipFill>
          <a:blip r:embed="rId3"/>
          <a:srcRect l="1551" r="1322" b="2255"/>
          <a:stretch>
            <a:fillRect/>
          </a:stretch>
        </p:blipFill>
        <p:spPr>
          <a:xfrm>
            <a:off x="819806" y="1234440"/>
            <a:ext cx="2664373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60" y="19659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C4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MENTORA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736592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for Personalized Learning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754880" y="3520440"/>
            <a:ext cx="2011680" cy="0"/>
          </a:xfrm>
          <a:prstGeom prst="line">
            <a:avLst/>
          </a:prstGeom>
          <a:noFill/>
          <a:ln w="38100">
            <a:solidFill>
              <a:srgbClr val="FF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36592" y="3703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Levy  &amp;  Ben Garusi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36592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College of Tel-Aviv – Yaffo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36592" y="4663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github.com/bengarusi/Mentora</a:t>
            </a:r>
            <a:endParaRPr lang="en-US" sz="12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E4FEE0D-AB0D-E56A-7814-78AC0E48F0A6}"/>
              </a:ext>
            </a:extLst>
          </p:cNvPr>
          <p:cNvSpPr/>
          <p:nvPr/>
        </p:nvSpPr>
        <p:spPr>
          <a:xfrm>
            <a:off x="475488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Learning Today</a:t>
            </a:r>
            <a:endParaRPr lang="en-US" sz="3000" dirty="0"/>
          </a:p>
        </p:txBody>
      </p:sp>
      <p:pic>
        <p:nvPicPr>
          <p:cNvPr id="4" name="Image 0" descr="/home/claude/pptxbuild/assets/img-007.jpg"/>
          <p:cNvPicPr>
            <a:picLocks noChangeAspect="1"/>
          </p:cNvPicPr>
          <p:nvPr/>
        </p:nvPicPr>
        <p:blipFill>
          <a:blip r:embed="rId3"/>
          <a:srcRect l="2575" r="2575"/>
          <a:stretch/>
        </p:blipFill>
        <p:spPr>
          <a:xfrm>
            <a:off x="8549640" y="1417320"/>
            <a:ext cx="306324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658368" cy="658368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pptxbuild/assets/icons/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1666768"/>
            <a:ext cx="342351" cy="342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48132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371600" y="181051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pacing rarely matches an individual student's gaps or speed.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679192"/>
            <a:ext cx="658368" cy="658368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pptxbuild/assets/icons/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2837200"/>
            <a:ext cx="342351" cy="3423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651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is expensive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371600" y="298094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tutors run $35–$100/hour — out of reach for consistent 1:1 support.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3849624"/>
            <a:ext cx="658368" cy="658368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home/claude/pptxbuild/assets/icons/book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48" y="4007632"/>
            <a:ext cx="342351" cy="3423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82219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digital content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371600" y="415137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material informs but does not actively build understanding.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48640" y="5020056"/>
            <a:ext cx="658368" cy="658368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/home/claude/pptxbuild/assets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648" y="5178064"/>
            <a:ext cx="342351" cy="3423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9926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feedback loop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371600" y="532180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immediate, adaptive guidance — not just answers.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 &amp; Validated Need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aged 6-15, learning independently or alongside a parent — anchored by two real use cases: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91840" cy="2084832"/>
          </a:xfrm>
          <a:prstGeom prst="roundRect">
            <a:avLst>
              <a:gd name="adj" fmla="val 6316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ptxbuild/assets/icons/graduation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3637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new topic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3421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guided introduction to material the student hasn't studied yet.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69080" y="1965960"/>
            <a:ext cx="3291840" cy="2084832"/>
          </a:xfrm>
          <a:prstGeom prst="roundRect">
            <a:avLst>
              <a:gd name="adj" fmla="val 6316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2240280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ptxbuild/assets/icons/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23637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specific problem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343400" y="33421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homework or class notes and get help tied directly to that content.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43068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demand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48640" y="434340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global private tutoring is a $70–150B+ category already, growing 8–10% a year — families demonstrably pay for personalized support.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 well-funded products (Khanmigo, SchoolAI) already prove schools &amp; families want an AI tutor, not just a chatbot.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818120" y="1371600"/>
            <a:ext cx="3794760" cy="5074920"/>
          </a:xfrm>
          <a:prstGeom prst="roundRect">
            <a:avLst>
              <a:gd name="adj" fmla="val 3373"/>
            </a:avLst>
          </a:prstGeom>
          <a:solidFill>
            <a:srgbClr val="241B4D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1381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13816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$70–150B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813816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private-tutoring market, 2025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138160" y="3090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25–35%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8138160" y="3593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forecast for AI tutors through 2030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138160" y="41239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$35–$100/hr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8138160" y="46268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cost of a human tutor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138160" y="51572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$0–$10/mo</a:t>
            </a:r>
            <a:endParaRPr lang="en-US" sz="2700" dirty="0"/>
          </a:p>
        </p:txBody>
      </p:sp>
      <p:sp>
        <p:nvSpPr>
          <p:cNvPr id="26" name="Text 22"/>
          <p:cNvSpPr/>
          <p:nvPr/>
        </p:nvSpPr>
        <p:spPr>
          <a:xfrm>
            <a:off x="8138160" y="56601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Mentora's price to the family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Mentora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tutor that explains, questions, and adapts — in real conversation, available 24/7.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0908" y="2286000"/>
            <a:ext cx="2377440" cy="2377440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build/assets/icons/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140" y="2999232"/>
            <a:ext cx="950976" cy="950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6588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Topic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38348" y="3474720"/>
            <a:ext cx="320040" cy="0"/>
          </a:xfrm>
          <a:prstGeom prst="line">
            <a:avLst/>
          </a:prstGeom>
          <a:noFill/>
          <a:ln w="25400">
            <a:solidFill>
              <a:srgbClr val="6C4C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558388" y="2286000"/>
            <a:ext cx="2377440" cy="2377440"/>
          </a:xfrm>
          <a:prstGeom prst="ellipse">
            <a:avLst/>
          </a:prstGeom>
          <a:solidFill>
            <a:srgbClr val="4B33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pptxbuild/assets/icons/headph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20" y="2999232"/>
            <a:ext cx="950976" cy="9509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84068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&amp; Ask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935828" y="3474720"/>
            <a:ext cx="320040" cy="0"/>
          </a:xfrm>
          <a:prstGeom prst="line">
            <a:avLst/>
          </a:prstGeom>
          <a:noFill/>
          <a:ln w="25400">
            <a:solidFill>
              <a:srgbClr val="6C4C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255868" y="2286000"/>
            <a:ext cx="2377440" cy="2377440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pptxbuild/assets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100" y="2999232"/>
            <a:ext cx="950976" cy="9509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81548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Interact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633308" y="3474720"/>
            <a:ext cx="320040" cy="0"/>
          </a:xfrm>
          <a:prstGeom prst="line">
            <a:avLst/>
          </a:prstGeom>
          <a:noFill/>
          <a:ln w="25400">
            <a:solidFill>
              <a:srgbClr val="6C4C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953348" y="2286000"/>
            <a:ext cx="2377440" cy="2377440"/>
          </a:xfrm>
          <a:prstGeom prst="ellipse">
            <a:avLst/>
          </a:prstGeom>
          <a:solidFill>
            <a:srgbClr val="4B33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pptxbuild/assets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6580" y="2999232"/>
            <a:ext cx="950976" cy="9509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79028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1280160" y="5440680"/>
            <a:ext cx="9601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1645920" y="5440680"/>
            <a:ext cx="8961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Mentora replaces passive study with a dynamic, voice-driven tutoring loop — personalized to every student.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5148" y="14630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build/assets/img-02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9740" y="1627632"/>
            <a:ext cx="3191256" cy="1971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748" y="3794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&amp; Topic Selection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3748" y="42976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subjects and choose a lesson topic from a clean, card-based dashboard.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5628" y="14630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ptxbuild/assets/img-02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0220" y="1627632"/>
            <a:ext cx="3191256" cy="1971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4228" y="3794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Tutor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64228" y="42976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tutor explains, asks follow-up questions, and evaluates answers — by voice or text.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76108" y="14630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pptxbuild/assets/img-02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40700" y="1627632"/>
            <a:ext cx="3191256" cy="1971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4708" y="3794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404708" y="42976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completion stats and a topic mastery map keep students motivated.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8884" y="16002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build/assets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404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2036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8612" y="301752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TypeScript / Vite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43988" y="2816352"/>
            <a:ext cx="237744" cy="219456"/>
          </a:xfrm>
          <a:prstGeom prst="rightArrow">
            <a:avLst/>
          </a:prstGeom>
          <a:solidFill>
            <a:srgbClr val="B9A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890876" y="16002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4B33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pptxbuild/assets/icons/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396" y="18745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64028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00604" y="301752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JWT auth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865980" y="2816352"/>
            <a:ext cx="237744" cy="219456"/>
          </a:xfrm>
          <a:prstGeom prst="rightArrow">
            <a:avLst/>
          </a:prstGeom>
          <a:solidFill>
            <a:srgbClr val="B9A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112868" y="16002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pptxbuild/assets/icons/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388" y="18745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6020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LOGIC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22596" y="301752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· state machine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087972" y="2816352"/>
            <a:ext cx="237744" cy="219456"/>
          </a:xfrm>
          <a:prstGeom prst="rightArrow">
            <a:avLst/>
          </a:prstGeom>
          <a:solidFill>
            <a:srgbClr val="B9A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334860" y="16002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pptxbuild/assets/icons/w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380" y="187452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8012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44588" y="301752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Chat, STT, TTS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309964" y="2816352"/>
            <a:ext cx="237744" cy="219456"/>
          </a:xfrm>
          <a:prstGeom prst="rightArrow">
            <a:avLst/>
          </a:prstGeom>
          <a:solidFill>
            <a:srgbClr val="B9A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9556852" y="160020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3E6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pptxbuild/assets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8372" y="187452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30004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666580" y="3017520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SQLAlchemy · Alembic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09448" y="46177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774040" y="47548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Voice Loop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74040" y="51389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→ STT → chat LLM → TTS in 32KB chunks → avatar lip-sync, before full synthesis completes.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3398368" y="46177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3562960" y="47548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State-Based Lesson Flow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562960" y="51389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→ Practice → Summary → Completed — each phase an isolated, testable state class.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6187288" y="46177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351880" y="47548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 Grading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351880" y="51389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· SymPy · normalization pipeline. The LLM never owns is_correct.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8976208" y="46177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9140800" y="47548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3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9140800" y="51389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automated test suites · 10 versioned DB migrations · repository &amp; strategy patterns.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Mentora Compares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241B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2356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ChatGPT</a:t>
            </a:r>
          </a:p>
        </p:txBody>
      </p:sp>
      <p:sp>
        <p:nvSpPr>
          <p:cNvPr id="8" name="Text 6"/>
          <p:cNvSpPr/>
          <p:nvPr/>
        </p:nvSpPr>
        <p:spPr>
          <a:xfrm>
            <a:off x="713232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Khanmigo</a:t>
            </a:r>
          </a:p>
        </p:txBody>
      </p:sp>
      <p:sp>
        <p:nvSpPr>
          <p:cNvPr id="9" name="Text 7"/>
          <p:cNvSpPr/>
          <p:nvPr/>
        </p:nvSpPr>
        <p:spPr>
          <a:xfrm>
            <a:off x="864108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SchoolAI</a:t>
            </a:r>
          </a:p>
        </p:txBody>
      </p:sp>
      <p:sp>
        <p:nvSpPr>
          <p:cNvPr id="10" name="Text 8"/>
          <p:cNvSpPr/>
          <p:nvPr/>
        </p:nvSpPr>
        <p:spPr>
          <a:xfrm>
            <a:off x="10149840" y="1463040"/>
            <a:ext cx="1581912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Tutor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2029968"/>
            <a:ext cx="1600200" cy="566928"/>
          </a:xfrm>
          <a:prstGeom prst="rect">
            <a:avLst/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answer grading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02996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23560" y="202996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202996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41080" y="202996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149840" y="2029968"/>
            <a:ext cx="1581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596896"/>
            <a:ext cx="11183112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69080" y="2596896"/>
            <a:ext cx="1600200" cy="566928"/>
          </a:xfrm>
          <a:prstGeom prst="rect">
            <a:avLst/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596896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cs typeface="Calibri" pitchFamily="34" charset="-120"/>
              </a:rPr>
              <a:t>Tutors from student's own material</a:t>
            </a:r>
          </a:p>
        </p:txBody>
      </p:sp>
      <p:sp>
        <p:nvSpPr>
          <p:cNvPr id="21" name="Text 19"/>
          <p:cNvSpPr/>
          <p:nvPr/>
        </p:nvSpPr>
        <p:spPr>
          <a:xfrm>
            <a:off x="4114800" y="25968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23560" y="25968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25968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41080" y="259689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49840" y="2596896"/>
            <a:ext cx="1581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069080" y="3163824"/>
            <a:ext cx="1600200" cy="566928"/>
          </a:xfrm>
          <a:prstGeom prst="rect">
            <a:avLst/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163824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cs typeface="Calibri" pitchFamily="34" charset="-120"/>
              </a:rPr>
              <a:t>Real-time voice interaction</a:t>
            </a:r>
          </a:p>
        </p:txBody>
      </p:sp>
      <p:sp>
        <p:nvSpPr>
          <p:cNvPr id="28" name="Text 26"/>
          <p:cNvSpPr/>
          <p:nvPr/>
        </p:nvSpPr>
        <p:spPr>
          <a:xfrm>
            <a:off x="4114800" y="31638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23560" y="31638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32320" y="31638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41080" y="31638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49840" y="3163824"/>
            <a:ext cx="1581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3730752"/>
            <a:ext cx="11183112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69080" y="3730752"/>
            <a:ext cx="1600200" cy="566928"/>
          </a:xfrm>
          <a:prstGeom prst="rect">
            <a:avLst/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730752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cs typeface="Calibri" pitchFamily="34" charset="-120"/>
              </a:rPr>
              <a:t>Visual step-by-step explanations</a:t>
            </a:r>
          </a:p>
        </p:txBody>
      </p:sp>
      <p:sp>
        <p:nvSpPr>
          <p:cNvPr id="36" name="Text 34"/>
          <p:cNvSpPr/>
          <p:nvPr/>
        </p:nvSpPr>
        <p:spPr>
          <a:xfrm>
            <a:off x="4114800" y="373075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23560" y="373075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32320" y="373075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41080" y="373075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149840" y="3730752"/>
            <a:ext cx="1581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069080" y="4297680"/>
            <a:ext cx="1600200" cy="566928"/>
          </a:xfrm>
          <a:prstGeom prst="rect">
            <a:avLst/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297680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cs typeface="Calibri" pitchFamily="34" charset="-120"/>
              </a:rPr>
              <a:t>Progress tracking &amp; analytics</a:t>
            </a:r>
          </a:p>
        </p:txBody>
      </p:sp>
      <p:sp>
        <p:nvSpPr>
          <p:cNvPr id="43" name="Text 41"/>
          <p:cNvSpPr/>
          <p:nvPr/>
        </p:nvSpPr>
        <p:spPr>
          <a:xfrm>
            <a:off x="4114800" y="429768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623560" y="429768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132320" y="429768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641080" y="429768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149840" y="4297680"/>
            <a:ext cx="1581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48640" y="4864608"/>
            <a:ext cx="11183112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069080" y="4864608"/>
            <a:ext cx="1600200" cy="566928"/>
          </a:xfrm>
          <a:prstGeom prst="rect">
            <a:avLst/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8640" y="4864608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cs typeface="Calibri" pitchFamily="34" charset="-120"/>
              </a:rPr>
              <a:t>Price point</a:t>
            </a:r>
          </a:p>
        </p:txBody>
      </p:sp>
      <p:sp>
        <p:nvSpPr>
          <p:cNvPr id="51" name="Text 49"/>
          <p:cNvSpPr/>
          <p:nvPr/>
        </p:nvSpPr>
        <p:spPr>
          <a:xfrm>
            <a:off x="4114800" y="486460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4B3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5623560" y="486460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7132320" y="486460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80" dirty="0"/>
          </a:p>
        </p:txBody>
      </p:sp>
      <p:sp>
        <p:nvSpPr>
          <p:cNvPr id="54" name="Text 52"/>
          <p:cNvSpPr/>
          <p:nvPr/>
        </p:nvSpPr>
        <p:spPr>
          <a:xfrm>
            <a:off x="8641080" y="486460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80" dirty="0"/>
          </a:p>
        </p:txBody>
      </p:sp>
      <p:sp>
        <p:nvSpPr>
          <p:cNvPr id="55" name="Text 53"/>
          <p:cNvSpPr/>
          <p:nvPr/>
        </p:nvSpPr>
        <p:spPr>
          <a:xfrm>
            <a:off x="10149840" y="4864608"/>
            <a:ext cx="1581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548640" y="5458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= partial capability, based on public product information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48640" y="5806440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241B4D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Mentora's edge: deterministic grading + document-grounded tutoring + a real voice loop, at a fraction of Khanmigo/SchoolAI's institutional price point.</a:t>
            </a:r>
          </a:p>
        </p:txBody>
      </p:sp>
      <p:sp>
        <p:nvSpPr>
          <p:cNvPr id="60" name="Text 5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start, simple to upgrade — built for ages 6–15.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5148" y="21488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3748" y="2377440"/>
            <a:ext cx="1645920" cy="320040"/>
          </a:xfrm>
          <a:prstGeom prst="roundRect">
            <a:avLst>
              <a:gd name="adj" fmla="val 48571"/>
            </a:avLst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3748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B3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23748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r>
              <a:rPr lang="en-US" sz="12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forever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23748" y="3474720"/>
            <a:ext cx="3063240" cy="0"/>
          </a:xfrm>
          <a:prstGeom prst="line">
            <a:avLst/>
          </a:prstGeom>
          <a:noFill/>
          <a:ln w="12700">
            <a:solidFill>
              <a:srgbClr val="ED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3748" y="361188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guided lessons/day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tutoring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progress tracking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5628" y="192024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241B4D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64228" y="2148840"/>
            <a:ext cx="1645920" cy="320040"/>
          </a:xfrm>
          <a:prstGeom prst="roundRect">
            <a:avLst>
              <a:gd name="adj" fmla="val 48571"/>
            </a:avLst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64228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64228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</a:t>
            </a:r>
            <a:r>
              <a:rPr lang="en-US" sz="1200" dirty="0">
                <a:solidFill>
                  <a:srgbClr val="C9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month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64228" y="3246120"/>
            <a:ext cx="3063240" cy="0"/>
          </a:xfrm>
          <a:prstGeom prst="line">
            <a:avLst/>
          </a:prstGeom>
          <a:noFill/>
          <a:ln w="12700">
            <a:solidFill>
              <a:srgbClr val="4B3E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64228" y="338328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tutoring sessions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file uploads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progress reports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76108" y="21488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04708" y="2377440"/>
            <a:ext cx="1645920" cy="320040"/>
          </a:xfrm>
          <a:prstGeom prst="roundRect">
            <a:avLst>
              <a:gd name="adj" fmla="val 48571"/>
            </a:avLst>
          </a:prstGeom>
          <a:solidFill>
            <a:srgbClr val="EDE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04708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B3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FAMILIES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04708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</a:t>
            </a:r>
            <a:r>
              <a:rPr lang="en-US" sz="12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$5 / child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404708" y="3474720"/>
            <a:ext cx="3063240" cy="0"/>
          </a:xfrm>
          <a:prstGeom prst="line">
            <a:avLst/>
          </a:prstGeom>
          <a:noFill/>
          <a:ln w="12700">
            <a:solidFill>
              <a:srgbClr val="ED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04708" y="361188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Premium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teacher 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 per child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1831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5806440"/>
            <a:ext cx="502920" cy="502920"/>
          </a:xfrm>
          <a:prstGeom prst="ellipse">
            <a:avLst/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/home/claude/pptxbuild/assets/icons/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5919597"/>
            <a:ext cx="276606" cy="27660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63040" y="56692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Institutions: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site license — every student gets full access. The real buyer is the educator; family &amp; school tiers turn one happy learner into many seats.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9720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2700" y="1371600"/>
            <a:ext cx="640080" cy="640080"/>
          </a:xfrm>
          <a:prstGeom prst="ellipse">
            <a:avLst/>
          </a:prstGeom>
          <a:solidFill>
            <a:srgbClr val="6C4CF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27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260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8320" y="28346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 + premium on mathematics; validate retention &amp; willingness to pay via schools, parenting groups, word of mouth.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4048" y="3383280"/>
            <a:ext cx="219456" cy="201168"/>
          </a:xfrm>
          <a:prstGeom prst="rightArrow">
            <a:avLst/>
          </a:prstGeom>
          <a:solidFill>
            <a:srgbClr val="C9B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61792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DE7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4772" y="1371600"/>
            <a:ext cx="640080" cy="640080"/>
          </a:xfrm>
          <a:prstGeom prst="ellipse">
            <a:avLst/>
          </a:prstGeom>
          <a:solidFill>
            <a:srgbClr val="6C4CF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4772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4672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Expansion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0392" y="28346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English and Science, broadening the addressable student base and lengthening engagement.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6120" y="3383280"/>
            <a:ext cx="219456" cy="201168"/>
          </a:xfrm>
          <a:prstGeom prst="rightArrow">
            <a:avLst/>
          </a:prstGeom>
          <a:solidFill>
            <a:srgbClr val="C9B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23864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1ED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06844" y="1371600"/>
            <a:ext cx="640080" cy="640080"/>
          </a:xfrm>
          <a:prstGeom prst="ellipse">
            <a:avLst/>
          </a:prstGeom>
          <a:solidFill>
            <a:srgbClr val="6C4CF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06844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6744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Institutions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2464" y="28346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parent/teacher dashboard; run pilot programs with individual schools.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48192" y="3383280"/>
            <a:ext cx="219456" cy="201168"/>
          </a:xfrm>
          <a:prstGeom prst="rightArrow">
            <a:avLst/>
          </a:prstGeom>
          <a:solidFill>
            <a:srgbClr val="C9B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85936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DE7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68916" y="1371600"/>
            <a:ext cx="640080" cy="640080"/>
          </a:xfrm>
          <a:prstGeom prst="ellipse">
            <a:avLst/>
          </a:prstGeom>
          <a:solidFill>
            <a:srgbClr val="6C4CF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68916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68816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14536" y="28346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language coverage and subject depth; pursue broader institutional &amp; multilingual markets.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rationale: individual students feel the difference in a single session; institutional sales cycles are longer and lean on the roadmap items above.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C4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for Mentora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0012" y="192024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58672" y="2148840"/>
            <a:ext cx="640080" cy="640080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build/assets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692" y="23088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7172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Memory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7172" y="3474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memory across sessions so the tutor remembers each student's progress and gaps.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08580" y="192024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17240" y="2148840"/>
            <a:ext cx="640080" cy="640080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pptxbuild/assets/icons/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260" y="23088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5740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Materials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45740" y="3474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 for homework — expanding to full course syllabi and slide decks.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67148" y="192024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75808" y="2148840"/>
            <a:ext cx="640080" cy="640080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ptxbuild/assets/icons/w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828" y="23088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4308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Avatar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04308" y="3474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expressive AI tutor avatar with lip-sync and emotion for a more human feel.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25716" y="192024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34376" y="2148840"/>
            <a:ext cx="640080" cy="640080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pptxbuild/assets/icons/chartMix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4396" y="23088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2876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62876" y="3474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insights — weak topics, session history, progress curves — for students and educators.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584284" y="192024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B2E8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292944" y="2148840"/>
            <a:ext cx="640080" cy="640080"/>
          </a:xfrm>
          <a:prstGeom prst="ellipse">
            <a:avLst/>
          </a:prstGeom>
          <a:solidFill>
            <a:srgbClr val="6C4C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pptxbuild/assets/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2964" y="23088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1444" y="2926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Subjects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721444" y="3474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beyond math — Hebrew, English, and Science for broader learning support.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build/assets/img-06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0" y="0"/>
            <a:ext cx="4599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2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Mentora: A Tutor for Every Student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pptxbuild/assets/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2409444"/>
            <a:ext cx="301752" cy="301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2677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Personalized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371600" y="258775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tutor that explains, questions, and adapts to every student — 24/7.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pptxbuild/assets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369564"/>
            <a:ext cx="301752" cy="301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2278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Voice Loop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371600" y="354787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 — transcribe, reason, and speak back in seconds. Working today.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FF7A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home/claude/pptxbuild/assets/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4329684"/>
            <a:ext cx="301752" cy="3017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371600" y="450799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React + FastAPI + GPT stack, ready for new subjects and users.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5532120"/>
            <a:ext cx="2011680" cy="0"/>
          </a:xfrm>
          <a:prstGeom prst="line">
            <a:avLst/>
          </a:prstGeom>
          <a:noFill/>
          <a:ln w="38100">
            <a:solidFill>
              <a:srgbClr val="FF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40080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Levy &amp; Ben </a:t>
            </a:r>
            <a:r>
              <a:rPr lang="en-US" sz="1200" dirty="0" err="1">
                <a:solidFill>
                  <a:srgbClr val="C9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Garusi</a:t>
            </a:r>
            <a:r>
              <a:rPr lang="en-US" sz="1200" dirty="0">
                <a:solidFill>
                  <a:srgbClr val="C9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964</Words>
  <Application>Microsoft Macintosh PowerPoint</Application>
  <PresentationFormat>Widescreen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Noa Levy</cp:lastModifiedBy>
  <cp:revision>2</cp:revision>
  <dcterms:created xsi:type="dcterms:W3CDTF">2026-09-05T12:15:55Z</dcterms:created>
  <dcterms:modified xsi:type="dcterms:W3CDTF">2026-09-05T12:31:17Z</dcterms:modified>
</cp:coreProperties>
</file>