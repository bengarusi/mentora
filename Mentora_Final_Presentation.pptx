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5" r:id="rId9"/>
    <p:sldId id="266" r:id="rId10"/>
    <p:sldId id="267" r:id="rId11"/>
    <p:sldId id="269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67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47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268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://github.com/bengarusi/Mentora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jpg"/><Relationship Id="rId4" Type="http://schemas.openxmlformats.org/officeDocument/2006/relationships/image" Target="../media/image1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18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F1ED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claude/pptxbuild/assets/logo_full.png"/>
          <p:cNvPicPr>
            <a:picLocks noChangeAspect="1"/>
          </p:cNvPicPr>
          <p:nvPr/>
        </p:nvPicPr>
        <p:blipFill>
          <a:blip r:embed="rId3"/>
          <a:srcRect l="1551" r="1322" b="2255"/>
          <a:stretch>
            <a:fillRect/>
          </a:stretch>
        </p:blipFill>
        <p:spPr>
          <a:xfrm>
            <a:off x="819806" y="1234440"/>
            <a:ext cx="2664373" cy="3474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09160" y="1965960"/>
            <a:ext cx="6766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6C4C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MENTORA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4736592" y="288036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Tutor for Personalized Learning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754880" y="3520440"/>
            <a:ext cx="2011680" cy="0"/>
          </a:xfrm>
          <a:prstGeom prst="line">
            <a:avLst/>
          </a:prstGeom>
          <a:noFill/>
          <a:ln w="38100">
            <a:solidFill>
              <a:srgbClr val="FF7A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736592" y="37033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 Levy  &amp;  Ben Garusi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736592" y="40233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Academic College of Tel-Aviv – Yaffo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736592" y="46634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github.com/bengarusi/Mentora</a:t>
            </a:r>
            <a:endParaRPr lang="en-US" sz="1250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6E4FEE0D-AB0D-E56A-7814-78AC0E48F0A6}"/>
              </a:ext>
            </a:extLst>
          </p:cNvPr>
          <p:cNvSpPr/>
          <p:nvPr/>
        </p:nvSpPr>
        <p:spPr>
          <a:xfrm>
            <a:off x="4754880" y="43891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Github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ED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6C4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With Learning Today</a:t>
            </a:r>
            <a:endParaRPr lang="en-US" sz="3000" dirty="0"/>
          </a:p>
        </p:txBody>
      </p:sp>
      <p:pic>
        <p:nvPicPr>
          <p:cNvPr id="4" name="Image 0" descr="/home/claude/pptxbuild/assets/img-007.jpg"/>
          <p:cNvPicPr>
            <a:picLocks noChangeAspect="1"/>
          </p:cNvPicPr>
          <p:nvPr/>
        </p:nvPicPr>
        <p:blipFill>
          <a:blip r:embed="rId3"/>
          <a:srcRect l="2575" r="2575"/>
          <a:stretch/>
        </p:blipFill>
        <p:spPr>
          <a:xfrm>
            <a:off x="8549640" y="1417320"/>
            <a:ext cx="3063240" cy="48463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658368" cy="658368"/>
          </a:xfrm>
          <a:prstGeom prst="ellipse">
            <a:avLst/>
          </a:prstGeom>
          <a:solidFill>
            <a:srgbClr val="6C4C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claude/pptxbuild/assets/icons/lay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648" y="1666768"/>
            <a:ext cx="342351" cy="34235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71600" y="1481328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One-size-fits-all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1371600" y="1810512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Classroom pacing rarely matches an individual student's gaps or speed.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2679192"/>
            <a:ext cx="658368" cy="658368"/>
          </a:xfrm>
          <a:prstGeom prst="ellipse">
            <a:avLst/>
          </a:prstGeom>
          <a:solidFill>
            <a:srgbClr val="6C4C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2" descr="/home/claude/pptxbuild/assets/icons/doll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48" y="2837200"/>
            <a:ext cx="342351" cy="342351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371600" y="2651760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Tutoring is expensive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1371600" y="2980944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tutors run $35–$100/hour — out of reach for consistent 1:1 support.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3849624"/>
            <a:ext cx="658368" cy="658368"/>
          </a:xfrm>
          <a:prstGeom prst="ellipse">
            <a:avLst/>
          </a:prstGeom>
          <a:solidFill>
            <a:srgbClr val="6C4C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3" descr="/home/claude/pptxbuild/assets/icons/bookOp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648" y="4007632"/>
            <a:ext cx="342351" cy="342351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371600" y="3822192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digital content</a:t>
            </a:r>
            <a:endParaRPr lang="en-US" sz="1600" dirty="0"/>
          </a:p>
        </p:txBody>
      </p:sp>
      <p:sp>
        <p:nvSpPr>
          <p:cNvPr id="16" name="Text 10"/>
          <p:cNvSpPr/>
          <p:nvPr/>
        </p:nvSpPr>
        <p:spPr>
          <a:xfrm>
            <a:off x="1371600" y="4151376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online material informs but does not actively build understanding.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548640" y="5020056"/>
            <a:ext cx="658368" cy="658368"/>
          </a:xfrm>
          <a:prstGeom prst="ellipse">
            <a:avLst/>
          </a:prstGeom>
          <a:solidFill>
            <a:srgbClr val="6C4C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4" descr="/home/claude/pptxbuild/assets/icons/bol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6648" y="5178064"/>
            <a:ext cx="342351" cy="342351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371600" y="4992624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 feedback loop</a:t>
            </a:r>
            <a:endParaRPr lang="en-US" sz="1600" dirty="0"/>
          </a:p>
        </p:txBody>
      </p:sp>
      <p:sp>
        <p:nvSpPr>
          <p:cNvPr id="20" name="Text 13"/>
          <p:cNvSpPr/>
          <p:nvPr/>
        </p:nvSpPr>
        <p:spPr>
          <a:xfrm>
            <a:off x="1371600" y="5321808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need immediate, adaptive guidance — not just answers.</a:t>
            </a:r>
            <a:endParaRPr lang="en-US" sz="1600" dirty="0"/>
          </a:p>
        </p:txBody>
      </p:sp>
      <p:sp>
        <p:nvSpPr>
          <p:cNvPr id="22" name="Text 15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6C4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SERVE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Audience &amp; Validated Need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Students, aged 6-15, learning independently or alongside a parent — anchored by two real use cases: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291840" cy="2084832"/>
          </a:xfrm>
          <a:prstGeom prst="roundRect">
            <a:avLst>
              <a:gd name="adj" fmla="val 6316"/>
            </a:avLst>
          </a:prstGeom>
          <a:solidFill>
            <a:srgbClr val="F1EDFF"/>
          </a:solidFill>
          <a:ln/>
          <a:effectLst>
            <a:outerShdw blurRad="127000" dist="38100" dir="5400000" algn="bl" rotWithShape="0">
              <a:srgbClr val="3B2E82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22960" y="2240280"/>
            <a:ext cx="548640" cy="548640"/>
          </a:xfrm>
          <a:prstGeom prst="ellipse">
            <a:avLst/>
          </a:prstGeom>
          <a:solidFill>
            <a:srgbClr val="FF7A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/home/claude/pptxbuild/assets/icons/graduation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" y="2363724"/>
            <a:ext cx="301752" cy="3017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28803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 new topic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34213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structured, guided introduction to material the student hasn't studied yet.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069080" y="1965960"/>
            <a:ext cx="3291840" cy="2084832"/>
          </a:xfrm>
          <a:prstGeom prst="roundRect">
            <a:avLst>
              <a:gd name="adj" fmla="val 6316"/>
            </a:avLst>
          </a:prstGeom>
          <a:solidFill>
            <a:srgbClr val="F1EDFF"/>
          </a:solidFill>
          <a:ln/>
          <a:effectLst>
            <a:outerShdw blurRad="127000" dist="38100" dir="5400000" algn="bl" rotWithShape="0">
              <a:srgbClr val="3B2E82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343400" y="2240280"/>
            <a:ext cx="548640" cy="548640"/>
          </a:xfrm>
          <a:prstGeom prst="ellipse">
            <a:avLst/>
          </a:prstGeom>
          <a:solidFill>
            <a:srgbClr val="FF7A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/home/claude/pptxbuild/assets/icons/uplo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6844" y="2363724"/>
            <a:ext cx="301752" cy="30175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43400" y="28803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a specific problem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343400" y="334213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homework or class notes and get help tied directly to that content.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48640" y="4306824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C4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of demand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548640" y="4343400"/>
            <a:ext cx="6949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Market: global private tutoring is a $70–150B+ category already, growing 8–10% a year — families demonstrably pay for personalized support.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Competitors: well-funded products (Khanmigo, SchoolAI) already prove schools &amp; families want an AI tutor, not just a chatbot.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7818120" y="1371600"/>
            <a:ext cx="3794760" cy="5074920"/>
          </a:xfrm>
          <a:prstGeom prst="roundRect">
            <a:avLst>
              <a:gd name="adj" fmla="val 3373"/>
            </a:avLst>
          </a:prstGeom>
          <a:solidFill>
            <a:srgbClr val="241B4D"/>
          </a:solidFill>
          <a:ln/>
          <a:effectLst>
            <a:outerShdw blurRad="127000" dist="38100" dir="5400000" algn="bl" rotWithShape="0">
              <a:srgbClr val="3B2E82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8138160" y="16459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B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8138160" y="205740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$70–150B</a:t>
            </a:r>
            <a:endParaRPr lang="en-US" sz="2700" dirty="0"/>
          </a:p>
        </p:txBody>
      </p:sp>
      <p:sp>
        <p:nvSpPr>
          <p:cNvPr id="20" name="Text 16"/>
          <p:cNvSpPr/>
          <p:nvPr/>
        </p:nvSpPr>
        <p:spPr>
          <a:xfrm>
            <a:off x="8138160" y="25603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4D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private-tutoring market, 2025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8138160" y="3090672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25–35%</a:t>
            </a:r>
            <a:endParaRPr lang="en-US" sz="2700" dirty="0"/>
          </a:p>
        </p:txBody>
      </p:sp>
      <p:sp>
        <p:nvSpPr>
          <p:cNvPr id="22" name="Text 18"/>
          <p:cNvSpPr/>
          <p:nvPr/>
        </p:nvSpPr>
        <p:spPr>
          <a:xfrm>
            <a:off x="8138160" y="3593592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4D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forecast for AI tutors through 2030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8138160" y="4123944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$35–$100/hr</a:t>
            </a:r>
            <a:endParaRPr lang="en-US" sz="2700" dirty="0"/>
          </a:p>
        </p:txBody>
      </p:sp>
      <p:sp>
        <p:nvSpPr>
          <p:cNvPr id="24" name="Text 20"/>
          <p:cNvSpPr/>
          <p:nvPr/>
        </p:nvSpPr>
        <p:spPr>
          <a:xfrm>
            <a:off x="8138160" y="4626864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4D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cost of a human tutor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8138160" y="5157216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$0–$10/mo</a:t>
            </a:r>
            <a:endParaRPr lang="en-US" sz="2700" dirty="0"/>
          </a:p>
        </p:txBody>
      </p:sp>
      <p:sp>
        <p:nvSpPr>
          <p:cNvPr id="26" name="Text 22"/>
          <p:cNvSpPr/>
          <p:nvPr/>
        </p:nvSpPr>
        <p:spPr>
          <a:xfrm>
            <a:off x="8138160" y="5660136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4D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Mentora's price to the family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ED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6C4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Mentora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tutor that explains, questions, and adapts — in real conversation, available 24/7.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60908" y="2286000"/>
            <a:ext cx="2377440" cy="2377440"/>
          </a:xfrm>
          <a:prstGeom prst="ellipse">
            <a:avLst/>
          </a:prstGeom>
          <a:solidFill>
            <a:srgbClr val="6C4C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pptxbuild/assets/icons/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4140" y="2999232"/>
            <a:ext cx="950976" cy="9509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6588" y="48006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Topic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238348" y="3474720"/>
            <a:ext cx="320040" cy="0"/>
          </a:xfrm>
          <a:prstGeom prst="line">
            <a:avLst/>
          </a:prstGeom>
          <a:noFill/>
          <a:ln w="25400">
            <a:solidFill>
              <a:srgbClr val="6C4CF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3558388" y="2286000"/>
            <a:ext cx="2377440" cy="2377440"/>
          </a:xfrm>
          <a:prstGeom prst="ellipse">
            <a:avLst/>
          </a:prstGeom>
          <a:solidFill>
            <a:srgbClr val="4B33B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/home/claude/pptxbuild/assets/icons/headphon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1620" y="2999232"/>
            <a:ext cx="950976" cy="9509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284068" y="48006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&amp; Ask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935828" y="3474720"/>
            <a:ext cx="320040" cy="0"/>
          </a:xfrm>
          <a:prstGeom prst="line">
            <a:avLst/>
          </a:prstGeom>
          <a:noFill/>
          <a:ln w="25400">
            <a:solidFill>
              <a:srgbClr val="6C4CF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6255868" y="2286000"/>
            <a:ext cx="2377440" cy="2377440"/>
          </a:xfrm>
          <a:prstGeom prst="ellipse">
            <a:avLst/>
          </a:prstGeom>
          <a:solidFill>
            <a:srgbClr val="6C4C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/home/claude/pptxbuild/assets/icons/commen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9100" y="2999232"/>
            <a:ext cx="950976" cy="95097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981548" y="48006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&amp; Interact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8633308" y="3474720"/>
            <a:ext cx="320040" cy="0"/>
          </a:xfrm>
          <a:prstGeom prst="line">
            <a:avLst/>
          </a:prstGeom>
          <a:noFill/>
          <a:ln w="25400">
            <a:solidFill>
              <a:srgbClr val="6C4CF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8953348" y="2286000"/>
            <a:ext cx="2377440" cy="2377440"/>
          </a:xfrm>
          <a:prstGeom prst="ellipse">
            <a:avLst/>
          </a:prstGeom>
          <a:solidFill>
            <a:srgbClr val="4B33B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3" descr="/home/claude/pptxbuild/assets/icons/ch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6580" y="2999232"/>
            <a:ext cx="950976" cy="95097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679028" y="48006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Progress</a:t>
            </a:r>
            <a:endParaRPr lang="en-US" sz="1600" dirty="0"/>
          </a:p>
        </p:txBody>
      </p:sp>
      <p:sp>
        <p:nvSpPr>
          <p:cNvPr id="20" name="Shape 14"/>
          <p:cNvSpPr/>
          <p:nvPr/>
        </p:nvSpPr>
        <p:spPr>
          <a:xfrm>
            <a:off x="1280160" y="5440680"/>
            <a:ext cx="96012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3B2E82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5"/>
          <p:cNvSpPr/>
          <p:nvPr/>
        </p:nvSpPr>
        <p:spPr>
          <a:xfrm>
            <a:off x="1645920" y="5440680"/>
            <a:ext cx="8961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Mentora replaces passive study with a dynamic, voice-driven tutoring loop — personalized to every student.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6C4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IN ACTION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Walkthrough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5148" y="146304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1EDFF"/>
          </a:solidFill>
          <a:ln/>
          <a:effectLst>
            <a:outerShdw blurRad="127000" dist="38100" dir="5400000" algn="bl" rotWithShape="0">
              <a:srgbClr val="3B2E82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/home/claude/pptxbuild/assets/img-024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59740" y="1627632"/>
            <a:ext cx="3191256" cy="197148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3748" y="379476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&amp; Topic Selection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23748" y="4297680"/>
            <a:ext cx="3063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subjects and choose a lesson topic from a clean, card-based dashboard.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335628" y="146304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1EDFF"/>
          </a:solidFill>
          <a:ln/>
          <a:effectLst>
            <a:outerShdw blurRad="127000" dist="38100" dir="5400000" algn="bl" rotWithShape="0">
              <a:srgbClr val="3B2E82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/home/claude/pptxbuild/assets/img-026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00220" y="1627632"/>
            <a:ext cx="3191256" cy="197148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64228" y="379476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Tutor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564228" y="4297680"/>
            <a:ext cx="3063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tutor explains, asks follow-up questions, and evaluates answers — by voice or text.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8176108" y="146304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1EDFF"/>
          </a:solidFill>
          <a:ln/>
          <a:effectLst>
            <a:outerShdw blurRad="127000" dist="38100" dir="5400000" algn="bl" rotWithShape="0">
              <a:srgbClr val="3B2E82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/home/claude/pptxbuild/assets/img-028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340700" y="1627632"/>
            <a:ext cx="3191256" cy="197148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404708" y="379476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Tracking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8404708" y="4297680"/>
            <a:ext cx="3063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completion stats and a topic mastery map keep students motivated.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6C4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FOUNDATION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68884" y="1600200"/>
            <a:ext cx="1965960" cy="2651760"/>
          </a:xfrm>
          <a:prstGeom prst="roundRect">
            <a:avLst>
              <a:gd name="adj" fmla="val 4651"/>
            </a:avLst>
          </a:prstGeom>
          <a:solidFill>
            <a:srgbClr val="1E9E6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home/claude/pptxbuild/assets/icons/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0404" y="18745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2036" y="2560320"/>
            <a:ext cx="18196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78612" y="3017520"/>
            <a:ext cx="174650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/ TypeScript / Vite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643988" y="2816352"/>
            <a:ext cx="237744" cy="219456"/>
          </a:xfrm>
          <a:prstGeom prst="rightArrow">
            <a:avLst/>
          </a:prstGeom>
          <a:solidFill>
            <a:srgbClr val="B9AE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2890876" y="1600200"/>
            <a:ext cx="1965960" cy="2651760"/>
          </a:xfrm>
          <a:prstGeom prst="roundRect">
            <a:avLst>
              <a:gd name="adj" fmla="val 4651"/>
            </a:avLst>
          </a:prstGeom>
          <a:solidFill>
            <a:srgbClr val="4B33B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/home/claude/pptxbuild/assets/icons/lay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2396" y="187452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964028" y="2560320"/>
            <a:ext cx="18196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LAYER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3000604" y="3017520"/>
            <a:ext cx="174650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JWT auth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865980" y="2816352"/>
            <a:ext cx="237744" cy="219456"/>
          </a:xfrm>
          <a:prstGeom prst="rightArrow">
            <a:avLst/>
          </a:prstGeom>
          <a:solidFill>
            <a:srgbClr val="B9AE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5112868" y="1600200"/>
            <a:ext cx="1965960" cy="2651760"/>
          </a:xfrm>
          <a:prstGeom prst="roundRect">
            <a:avLst>
              <a:gd name="adj" fmla="val 4651"/>
            </a:avLst>
          </a:prstGeom>
          <a:solidFill>
            <a:srgbClr val="6C4C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/home/claude/pptxbuild/assets/icons/gea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4388" y="1874520"/>
            <a:ext cx="5029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186020" y="2560320"/>
            <a:ext cx="18196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&amp; LOGIC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5222596" y="3017520"/>
            <a:ext cx="174650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Tool-calling agent · state machine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7087972" y="2816352"/>
            <a:ext cx="237744" cy="219456"/>
          </a:xfrm>
          <a:prstGeom prst="rightArrow">
            <a:avLst/>
          </a:prstGeom>
          <a:solidFill>
            <a:srgbClr val="B9AE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7334860" y="1600200"/>
            <a:ext cx="1965960" cy="2651760"/>
          </a:xfrm>
          <a:prstGeom prst="roundRect">
            <a:avLst>
              <a:gd name="adj" fmla="val 4651"/>
            </a:avLst>
          </a:prstGeom>
          <a:solidFill>
            <a:srgbClr val="FF7A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3" descr="/home/claude/pptxbuild/assets/icons/wa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6380" y="1874520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08012" y="2560320"/>
            <a:ext cx="18196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7444588" y="3017520"/>
            <a:ext cx="174650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· Chat, STT, TTS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9309964" y="2816352"/>
            <a:ext cx="237744" cy="219456"/>
          </a:xfrm>
          <a:prstGeom prst="rightArrow">
            <a:avLst/>
          </a:prstGeom>
          <a:solidFill>
            <a:srgbClr val="B9AE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9556852" y="1600200"/>
            <a:ext cx="1965960" cy="2651760"/>
          </a:xfrm>
          <a:prstGeom prst="roundRect">
            <a:avLst>
              <a:gd name="adj" fmla="val 4651"/>
            </a:avLst>
          </a:prstGeom>
          <a:solidFill>
            <a:srgbClr val="3E6F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4" descr="/home/claude/pptxbuild/assets/icons/datab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8372" y="1874520"/>
            <a:ext cx="502920" cy="5029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9630004" y="2560320"/>
            <a:ext cx="18196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600" dirty="0"/>
          </a:p>
        </p:txBody>
      </p:sp>
      <p:sp>
        <p:nvSpPr>
          <p:cNvPr id="27" name="Text 20"/>
          <p:cNvSpPr/>
          <p:nvPr/>
        </p:nvSpPr>
        <p:spPr>
          <a:xfrm>
            <a:off x="9666580" y="3017520"/>
            <a:ext cx="174650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SQLAlchemy · Alembic</a:t>
            </a:r>
            <a:endParaRPr lang="en-US" sz="1400" dirty="0"/>
          </a:p>
        </p:txBody>
      </p:sp>
      <p:sp>
        <p:nvSpPr>
          <p:cNvPr id="28" name="Shape 21"/>
          <p:cNvSpPr/>
          <p:nvPr/>
        </p:nvSpPr>
        <p:spPr>
          <a:xfrm>
            <a:off x="609448" y="461772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1EDFF"/>
          </a:solidFill>
          <a:ln/>
          <a:effectLst>
            <a:outerShdw blurRad="127000" dist="38100" dir="5400000" algn="bl" rotWithShape="0">
              <a:srgbClr val="3B2E82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2"/>
          <p:cNvSpPr/>
          <p:nvPr/>
        </p:nvSpPr>
        <p:spPr>
          <a:xfrm>
            <a:off x="774040" y="4754880"/>
            <a:ext cx="2276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B3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Voice Loop</a:t>
            </a:r>
            <a:endParaRPr lang="en-US" sz="1400" dirty="0"/>
          </a:p>
        </p:txBody>
      </p:sp>
      <p:sp>
        <p:nvSpPr>
          <p:cNvPr id="30" name="Text 23"/>
          <p:cNvSpPr/>
          <p:nvPr/>
        </p:nvSpPr>
        <p:spPr>
          <a:xfrm>
            <a:off x="774040" y="5138928"/>
            <a:ext cx="227685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→ STT → chat LLM → TTS in 32KB chunks → avatar lip-sync, before full synthesis completes.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3398368" y="461772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1EDFF"/>
          </a:solidFill>
          <a:ln/>
          <a:effectLst>
            <a:outerShdw blurRad="127000" dist="38100" dir="5400000" algn="bl" rotWithShape="0">
              <a:srgbClr val="3B2E82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25"/>
          <p:cNvSpPr/>
          <p:nvPr/>
        </p:nvSpPr>
        <p:spPr>
          <a:xfrm>
            <a:off x="3562960" y="4754880"/>
            <a:ext cx="2276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B3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State-Based Lesson Flow</a:t>
            </a:r>
            <a:endParaRPr lang="en-US" sz="1400" dirty="0"/>
          </a:p>
        </p:txBody>
      </p:sp>
      <p:sp>
        <p:nvSpPr>
          <p:cNvPr id="33" name="Text 26"/>
          <p:cNvSpPr/>
          <p:nvPr/>
        </p:nvSpPr>
        <p:spPr>
          <a:xfrm>
            <a:off x="3562960" y="5138928"/>
            <a:ext cx="227685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→ Practice → Summary → Completed — each phase an isolated, testable state class.</a:t>
            </a:r>
            <a:endParaRPr lang="en-US" sz="1400" dirty="0"/>
          </a:p>
        </p:txBody>
      </p:sp>
      <p:sp>
        <p:nvSpPr>
          <p:cNvPr id="34" name="Shape 27"/>
          <p:cNvSpPr/>
          <p:nvPr/>
        </p:nvSpPr>
        <p:spPr>
          <a:xfrm>
            <a:off x="6187288" y="461772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1EDFF"/>
          </a:solidFill>
          <a:ln/>
          <a:effectLst>
            <a:outerShdw blurRad="127000" dist="38100" dir="5400000" algn="bl" rotWithShape="0">
              <a:srgbClr val="3B2E82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28"/>
          <p:cNvSpPr/>
          <p:nvPr/>
        </p:nvSpPr>
        <p:spPr>
          <a:xfrm>
            <a:off x="6351880" y="4754880"/>
            <a:ext cx="2276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B3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Math Grading</a:t>
            </a:r>
            <a:endParaRPr lang="en-US" sz="1400" dirty="0"/>
          </a:p>
        </p:txBody>
      </p:sp>
      <p:sp>
        <p:nvSpPr>
          <p:cNvPr id="36" name="Text 29"/>
          <p:cNvSpPr/>
          <p:nvPr/>
        </p:nvSpPr>
        <p:spPr>
          <a:xfrm>
            <a:off x="6351880" y="5138928"/>
            <a:ext cx="227685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· SymPy · normalization pipeline. The LLM never owns is_correct.</a:t>
            </a:r>
            <a:endParaRPr lang="en-US" sz="1400" dirty="0"/>
          </a:p>
        </p:txBody>
      </p:sp>
      <p:sp>
        <p:nvSpPr>
          <p:cNvPr id="37" name="Shape 30"/>
          <p:cNvSpPr/>
          <p:nvPr/>
        </p:nvSpPr>
        <p:spPr>
          <a:xfrm>
            <a:off x="8976208" y="461772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1EDFF"/>
          </a:solidFill>
          <a:ln/>
          <a:effectLst>
            <a:outerShdw blurRad="127000" dist="38100" dir="5400000" algn="bl" rotWithShape="0">
              <a:srgbClr val="3B2E82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Text 31"/>
          <p:cNvSpPr/>
          <p:nvPr/>
        </p:nvSpPr>
        <p:spPr>
          <a:xfrm>
            <a:off x="9140800" y="4754880"/>
            <a:ext cx="2276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B3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Depth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9140800" y="5138928"/>
            <a:ext cx="227685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automated test suites · 10 versioned DB migrations · repository &amp; strategy patterns.</a:t>
            </a:r>
            <a:endParaRPr lang="en-US" sz="1400" dirty="0"/>
          </a:p>
        </p:txBody>
      </p:sp>
      <p:sp>
        <p:nvSpPr>
          <p:cNvPr id="41" name="Text 34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ED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6C4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LANDSCAPE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Mentora Compares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183112" cy="566928"/>
          </a:xfrm>
          <a:prstGeom prst="roundRect">
            <a:avLst>
              <a:gd name="adj" fmla="val 9677"/>
            </a:avLst>
          </a:prstGeom>
          <a:solidFill>
            <a:srgbClr val="241B4D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356616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0" y="1463040"/>
            <a:ext cx="150876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23560" y="1463040"/>
            <a:ext cx="150876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ChatGPT</a:t>
            </a:r>
          </a:p>
        </p:txBody>
      </p:sp>
      <p:sp>
        <p:nvSpPr>
          <p:cNvPr id="8" name="Text 6"/>
          <p:cNvSpPr/>
          <p:nvPr/>
        </p:nvSpPr>
        <p:spPr>
          <a:xfrm>
            <a:off x="7132320" y="1463040"/>
            <a:ext cx="150876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Khanmigo</a:t>
            </a:r>
          </a:p>
        </p:txBody>
      </p:sp>
      <p:sp>
        <p:nvSpPr>
          <p:cNvPr id="9" name="Text 7"/>
          <p:cNvSpPr/>
          <p:nvPr/>
        </p:nvSpPr>
        <p:spPr>
          <a:xfrm>
            <a:off x="8641080" y="1463040"/>
            <a:ext cx="150876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SchoolAI</a:t>
            </a:r>
          </a:p>
        </p:txBody>
      </p:sp>
      <p:sp>
        <p:nvSpPr>
          <p:cNvPr id="10" name="Text 8"/>
          <p:cNvSpPr/>
          <p:nvPr/>
        </p:nvSpPr>
        <p:spPr>
          <a:xfrm>
            <a:off x="10149840" y="1463040"/>
            <a:ext cx="1581912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Tutor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69080" y="2029968"/>
            <a:ext cx="1600200" cy="566928"/>
          </a:xfrm>
          <a:prstGeom prst="rect">
            <a:avLst/>
          </a:prstGeom>
          <a:solidFill>
            <a:srgbClr val="EDE7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2029968"/>
            <a:ext cx="356616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answer grading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14800" y="2029968"/>
            <a:ext cx="1508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623560" y="2029968"/>
            <a:ext cx="1508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64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0" y="2029968"/>
            <a:ext cx="1508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7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641080" y="2029968"/>
            <a:ext cx="1508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7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149840" y="2029968"/>
            <a:ext cx="1581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2596896"/>
            <a:ext cx="11183112" cy="5669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069080" y="2596896"/>
            <a:ext cx="1600200" cy="566928"/>
          </a:xfrm>
          <a:prstGeom prst="rect">
            <a:avLst/>
          </a:prstGeom>
          <a:solidFill>
            <a:srgbClr val="EDE7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8640" y="2596896"/>
            <a:ext cx="356616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41B4D"/>
                </a:solidFill>
                <a:latin typeface="Calibri" pitchFamily="34" charset="0"/>
                <a:cs typeface="Calibri" pitchFamily="34" charset="-120"/>
              </a:rPr>
              <a:t>Tutors from student's own material</a:t>
            </a:r>
          </a:p>
        </p:txBody>
      </p:sp>
      <p:sp>
        <p:nvSpPr>
          <p:cNvPr id="21" name="Text 19"/>
          <p:cNvSpPr/>
          <p:nvPr/>
        </p:nvSpPr>
        <p:spPr>
          <a:xfrm>
            <a:off x="4114800" y="2596896"/>
            <a:ext cx="1508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623560" y="2596896"/>
            <a:ext cx="1508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500" b="1" dirty="0">
                <a:solidFill>
                  <a:srgbClr val="1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32320" y="2596896"/>
            <a:ext cx="1508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641080" y="2596896"/>
            <a:ext cx="1508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149840" y="2596896"/>
            <a:ext cx="1581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069080" y="3163824"/>
            <a:ext cx="1600200" cy="566928"/>
          </a:xfrm>
          <a:prstGeom prst="rect">
            <a:avLst/>
          </a:prstGeom>
          <a:solidFill>
            <a:srgbClr val="EDE7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48640" y="3163824"/>
            <a:ext cx="356616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41B4D"/>
                </a:solidFill>
                <a:latin typeface="Calibri" pitchFamily="34" charset="0"/>
                <a:cs typeface="Calibri" pitchFamily="34" charset="-120"/>
              </a:rPr>
              <a:t>Real-time voice interaction</a:t>
            </a:r>
          </a:p>
        </p:txBody>
      </p:sp>
      <p:sp>
        <p:nvSpPr>
          <p:cNvPr id="28" name="Text 26"/>
          <p:cNvSpPr/>
          <p:nvPr/>
        </p:nvSpPr>
        <p:spPr>
          <a:xfrm>
            <a:off x="4114800" y="3163824"/>
            <a:ext cx="1508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623560" y="3163824"/>
            <a:ext cx="1508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500" b="1" dirty="0">
                <a:solidFill>
                  <a:srgbClr val="1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132320" y="3163824"/>
            <a:ext cx="1508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641080" y="3163824"/>
            <a:ext cx="1508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64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0149840" y="3163824"/>
            <a:ext cx="1581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548640" y="3730752"/>
            <a:ext cx="11183112" cy="5669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069080" y="3730752"/>
            <a:ext cx="1600200" cy="566928"/>
          </a:xfrm>
          <a:prstGeom prst="rect">
            <a:avLst/>
          </a:prstGeom>
          <a:solidFill>
            <a:srgbClr val="EDE7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48640" y="3730752"/>
            <a:ext cx="356616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41B4D"/>
                </a:solidFill>
                <a:latin typeface="Calibri" pitchFamily="34" charset="0"/>
                <a:cs typeface="Calibri" pitchFamily="34" charset="-120"/>
              </a:rPr>
              <a:t>Visual step-by-step explanations</a:t>
            </a:r>
          </a:p>
        </p:txBody>
      </p:sp>
      <p:sp>
        <p:nvSpPr>
          <p:cNvPr id="36" name="Text 34"/>
          <p:cNvSpPr/>
          <p:nvPr/>
        </p:nvSpPr>
        <p:spPr>
          <a:xfrm>
            <a:off x="4114800" y="3730752"/>
            <a:ext cx="1508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5623560" y="3730752"/>
            <a:ext cx="1508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64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132320" y="3730752"/>
            <a:ext cx="1508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7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41080" y="3730752"/>
            <a:ext cx="1508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7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0149840" y="3730752"/>
            <a:ext cx="1581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4069080" y="4297680"/>
            <a:ext cx="1600200" cy="566928"/>
          </a:xfrm>
          <a:prstGeom prst="rect">
            <a:avLst/>
          </a:prstGeom>
          <a:solidFill>
            <a:srgbClr val="EDE7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48640" y="4297680"/>
            <a:ext cx="356616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41B4D"/>
                </a:solidFill>
                <a:latin typeface="Calibri" pitchFamily="34" charset="0"/>
                <a:cs typeface="Calibri" pitchFamily="34" charset="-120"/>
              </a:rPr>
              <a:t>Progress tracking &amp; analytics</a:t>
            </a:r>
          </a:p>
        </p:txBody>
      </p:sp>
      <p:sp>
        <p:nvSpPr>
          <p:cNvPr id="43" name="Text 41"/>
          <p:cNvSpPr/>
          <p:nvPr/>
        </p:nvSpPr>
        <p:spPr>
          <a:xfrm>
            <a:off x="4114800" y="4297680"/>
            <a:ext cx="1508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5623560" y="4297680"/>
            <a:ext cx="1508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64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7132320" y="4297680"/>
            <a:ext cx="1508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8641080" y="4297680"/>
            <a:ext cx="1508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10149840" y="4297680"/>
            <a:ext cx="1581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548640" y="4864608"/>
            <a:ext cx="11183112" cy="5669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4069080" y="4864608"/>
            <a:ext cx="1600200" cy="566928"/>
          </a:xfrm>
          <a:prstGeom prst="rect">
            <a:avLst/>
          </a:prstGeom>
          <a:solidFill>
            <a:srgbClr val="EDE7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548640" y="4864608"/>
            <a:ext cx="356616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41B4D"/>
                </a:solidFill>
                <a:latin typeface="Calibri" pitchFamily="34" charset="0"/>
                <a:cs typeface="Calibri" pitchFamily="34" charset="-120"/>
              </a:rPr>
              <a:t>Price point</a:t>
            </a:r>
          </a:p>
        </p:txBody>
      </p:sp>
      <p:sp>
        <p:nvSpPr>
          <p:cNvPr id="51" name="Text 49"/>
          <p:cNvSpPr/>
          <p:nvPr/>
        </p:nvSpPr>
        <p:spPr>
          <a:xfrm>
            <a:off x="4114800" y="4864608"/>
            <a:ext cx="1508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4B3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080" dirty="0"/>
          </a:p>
        </p:txBody>
      </p:sp>
      <p:sp>
        <p:nvSpPr>
          <p:cNvPr id="52" name="Text 50"/>
          <p:cNvSpPr/>
          <p:nvPr/>
        </p:nvSpPr>
        <p:spPr>
          <a:xfrm>
            <a:off x="5623560" y="4864608"/>
            <a:ext cx="1508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80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080" dirty="0"/>
          </a:p>
        </p:txBody>
      </p:sp>
      <p:sp>
        <p:nvSpPr>
          <p:cNvPr id="53" name="Text 51"/>
          <p:cNvSpPr/>
          <p:nvPr/>
        </p:nvSpPr>
        <p:spPr>
          <a:xfrm>
            <a:off x="7132320" y="4864608"/>
            <a:ext cx="1508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80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080" dirty="0"/>
          </a:p>
        </p:txBody>
      </p:sp>
      <p:sp>
        <p:nvSpPr>
          <p:cNvPr id="54" name="Text 52"/>
          <p:cNvSpPr/>
          <p:nvPr/>
        </p:nvSpPr>
        <p:spPr>
          <a:xfrm>
            <a:off x="8641080" y="4864608"/>
            <a:ext cx="1508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80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80" dirty="0"/>
          </a:p>
        </p:txBody>
      </p:sp>
      <p:sp>
        <p:nvSpPr>
          <p:cNvPr id="55" name="Text 53"/>
          <p:cNvSpPr/>
          <p:nvPr/>
        </p:nvSpPr>
        <p:spPr>
          <a:xfrm>
            <a:off x="10149840" y="4864608"/>
            <a:ext cx="1581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80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80" dirty="0"/>
          </a:p>
        </p:txBody>
      </p:sp>
      <p:sp>
        <p:nvSpPr>
          <p:cNvPr id="56" name="Text 54"/>
          <p:cNvSpPr/>
          <p:nvPr/>
        </p:nvSpPr>
        <p:spPr>
          <a:xfrm>
            <a:off x="548640" y="5458968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= partial capability, based on public product information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48640" y="5806440"/>
            <a:ext cx="11183112" cy="640080"/>
          </a:xfrm>
          <a:prstGeom prst="roundRect">
            <a:avLst>
              <a:gd name="adj" fmla="val 14286"/>
            </a:avLst>
          </a:prstGeom>
          <a:solidFill>
            <a:srgbClr val="241B4D"/>
          </a:solidFill>
          <a:ln/>
          <a:effectLst>
            <a:outerShdw blurRad="127000" dist="38100" dir="5400000" algn="bl" rotWithShape="0">
              <a:srgbClr val="3B2E82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822960" y="580644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Mentora's edge: deterministic grading + document-grounded tutoring + a real voice loop, at a fraction of Khanmigo/SchoolAI's institutional price point.</a:t>
            </a:r>
          </a:p>
        </p:txBody>
      </p:sp>
      <p:sp>
        <p:nvSpPr>
          <p:cNvPr id="60" name="Text 58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ED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6C4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Model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to start, simple to upgrade — built for ages 6–15.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95148" y="214884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3B2E82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23748" y="2377440"/>
            <a:ext cx="1645920" cy="320040"/>
          </a:xfrm>
          <a:prstGeom prst="roundRect">
            <a:avLst>
              <a:gd name="adj" fmla="val 48571"/>
            </a:avLst>
          </a:prstGeom>
          <a:solidFill>
            <a:srgbClr val="EDE7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23748" y="2377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B3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23748" y="283464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r>
              <a:rPr lang="en-US" sz="1200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forever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723748" y="3474720"/>
            <a:ext cx="3063240" cy="0"/>
          </a:xfrm>
          <a:prstGeom prst="line">
            <a:avLst/>
          </a:prstGeom>
          <a:noFill/>
          <a:ln w="12700">
            <a:solidFill>
              <a:srgbClr val="EDE7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23748" y="3611880"/>
            <a:ext cx="30632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guided lessons/day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tutoring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progress tracking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35628" y="1920240"/>
            <a:ext cx="3520440" cy="3520440"/>
          </a:xfrm>
          <a:prstGeom prst="roundRect">
            <a:avLst>
              <a:gd name="adj" fmla="val 3117"/>
            </a:avLst>
          </a:prstGeom>
          <a:solidFill>
            <a:srgbClr val="241B4D"/>
          </a:solidFill>
          <a:ln/>
          <a:effectLst>
            <a:outerShdw blurRad="127000" dist="38100" dir="5400000" algn="bl" rotWithShape="0">
              <a:srgbClr val="3B2E82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64228" y="2148840"/>
            <a:ext cx="1645920" cy="320040"/>
          </a:xfrm>
          <a:prstGeom prst="roundRect">
            <a:avLst>
              <a:gd name="adj" fmla="val 48571"/>
            </a:avLst>
          </a:prstGeom>
          <a:solidFill>
            <a:srgbClr val="FF7A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64228" y="2148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64228" y="260604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</a:t>
            </a:r>
            <a:r>
              <a:rPr lang="en-US" sz="1200" dirty="0">
                <a:solidFill>
                  <a:srgbClr val="C9BB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/ month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4564228" y="3246120"/>
            <a:ext cx="3063240" cy="0"/>
          </a:xfrm>
          <a:prstGeom prst="line">
            <a:avLst/>
          </a:prstGeom>
          <a:noFill/>
          <a:ln w="12700">
            <a:solidFill>
              <a:srgbClr val="4B3E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64228" y="3383280"/>
            <a:ext cx="30632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E4D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tutoring sessions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E4D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file uploads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E4D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progress reports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76108" y="214884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3B2E82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404708" y="2377440"/>
            <a:ext cx="1645920" cy="320040"/>
          </a:xfrm>
          <a:prstGeom prst="roundRect">
            <a:avLst>
              <a:gd name="adj" fmla="val 48571"/>
            </a:avLst>
          </a:prstGeom>
          <a:solidFill>
            <a:srgbClr val="EDE7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404708" y="2377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B3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FAMILIES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404708" y="283464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</a:t>
            </a:r>
            <a:r>
              <a:rPr lang="en-US" sz="1200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+ $5 / child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8404708" y="3474720"/>
            <a:ext cx="3063240" cy="0"/>
          </a:xfrm>
          <a:prstGeom prst="line">
            <a:avLst/>
          </a:prstGeom>
          <a:noFill/>
          <a:ln w="12700">
            <a:solidFill>
              <a:srgbClr val="EDE7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404708" y="3611880"/>
            <a:ext cx="30632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Premium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/ teacher dashboard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pricing per child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5669280"/>
            <a:ext cx="1118311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3B2E82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77240" y="5806440"/>
            <a:ext cx="502920" cy="502920"/>
          </a:xfrm>
          <a:prstGeom prst="ellipse">
            <a:avLst/>
          </a:prstGeom>
          <a:solidFill>
            <a:srgbClr val="FF7A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0" descr="/home/claude/pptxbuild/assets/icons/scho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397" y="5919597"/>
            <a:ext cx="276606" cy="276606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463040" y="566928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&amp; Institutions: </a:t>
            </a: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site license — every student gets full access. The real buyer is the educator; family &amp; school tiers turn one happy learner into many seats.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6C4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Go-to-Market Strategy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9720" y="1691640"/>
            <a:ext cx="2606040" cy="3657600"/>
          </a:xfrm>
          <a:prstGeom prst="roundRect">
            <a:avLst>
              <a:gd name="adj" fmla="val 4211"/>
            </a:avLst>
          </a:prstGeom>
          <a:solidFill>
            <a:srgbClr val="F1EDFF"/>
          </a:solidFill>
          <a:ln/>
          <a:effectLst>
            <a:outerShdw blurRad="127000" dist="38100" dir="5400000" algn="bl" rotWithShape="0">
              <a:srgbClr val="3B2E82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482700" y="1371600"/>
            <a:ext cx="640080" cy="640080"/>
          </a:xfrm>
          <a:prstGeom prst="ellipse">
            <a:avLst/>
          </a:prstGeom>
          <a:solidFill>
            <a:srgbClr val="6C4CF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482700" y="1371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2600" y="219456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Beta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8320" y="2834640"/>
            <a:ext cx="2148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free + premium on mathematics; validate retention &amp; willingness to pay via schools, parenting groups, word of mouth.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124048" y="3383280"/>
            <a:ext cx="219456" cy="201168"/>
          </a:xfrm>
          <a:prstGeom prst="rightArrow">
            <a:avLst/>
          </a:prstGeom>
          <a:solidFill>
            <a:srgbClr val="C9BB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361792" y="1691640"/>
            <a:ext cx="2606040" cy="3657600"/>
          </a:xfrm>
          <a:prstGeom prst="roundRect">
            <a:avLst>
              <a:gd name="adj" fmla="val 4211"/>
            </a:avLst>
          </a:prstGeom>
          <a:solidFill>
            <a:srgbClr val="EDE7FF"/>
          </a:solidFill>
          <a:ln/>
          <a:effectLst>
            <a:outerShdw blurRad="127000" dist="38100" dir="5400000" algn="bl" rotWithShape="0">
              <a:srgbClr val="3B2E82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344772" y="1371600"/>
            <a:ext cx="640080" cy="640080"/>
          </a:xfrm>
          <a:prstGeom prst="ellipse">
            <a:avLst/>
          </a:prstGeom>
          <a:solidFill>
            <a:srgbClr val="6C4CF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344772" y="1371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44672" y="219456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Expansion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0392" y="2834640"/>
            <a:ext cx="2148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to English and Science, broadening the addressable student base and lengthening engagement.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6120" y="3383280"/>
            <a:ext cx="219456" cy="201168"/>
          </a:xfrm>
          <a:prstGeom prst="rightArrow">
            <a:avLst/>
          </a:prstGeom>
          <a:solidFill>
            <a:srgbClr val="C9BB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223864" y="1691640"/>
            <a:ext cx="2606040" cy="3657600"/>
          </a:xfrm>
          <a:prstGeom prst="roundRect">
            <a:avLst>
              <a:gd name="adj" fmla="val 4211"/>
            </a:avLst>
          </a:prstGeom>
          <a:solidFill>
            <a:srgbClr val="F1EDFF"/>
          </a:solidFill>
          <a:ln/>
          <a:effectLst>
            <a:outerShdw blurRad="127000" dist="38100" dir="5400000" algn="bl" rotWithShape="0">
              <a:srgbClr val="3B2E82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206844" y="1371600"/>
            <a:ext cx="640080" cy="640080"/>
          </a:xfrm>
          <a:prstGeom prst="ellipse">
            <a:avLst/>
          </a:prstGeom>
          <a:solidFill>
            <a:srgbClr val="6C4CF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206844" y="1371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06744" y="219456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&amp; Institutions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52464" y="2834640"/>
            <a:ext cx="2148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the parent/teacher dashboard; run pilot programs with individual schools.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848192" y="3383280"/>
            <a:ext cx="219456" cy="201168"/>
          </a:xfrm>
          <a:prstGeom prst="rightArrow">
            <a:avLst/>
          </a:prstGeom>
          <a:solidFill>
            <a:srgbClr val="C9BB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085936" y="1691640"/>
            <a:ext cx="2606040" cy="3657600"/>
          </a:xfrm>
          <a:prstGeom prst="roundRect">
            <a:avLst>
              <a:gd name="adj" fmla="val 4211"/>
            </a:avLst>
          </a:prstGeom>
          <a:solidFill>
            <a:srgbClr val="EDE7FF"/>
          </a:solidFill>
          <a:ln/>
          <a:effectLst>
            <a:outerShdw blurRad="127000" dist="38100" dir="5400000" algn="bl" rotWithShape="0">
              <a:srgbClr val="3B2E82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0068916" y="1371600"/>
            <a:ext cx="640080" cy="640080"/>
          </a:xfrm>
          <a:prstGeom prst="ellipse">
            <a:avLst/>
          </a:prstGeom>
          <a:solidFill>
            <a:srgbClr val="6C4CF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0068916" y="1371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268816" y="219456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9314536" y="2834640"/>
            <a:ext cx="2148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language coverage and subject depth; pursue broader institutional &amp; multilingual markets.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rationale: individual students feel the difference in a single session; institutional sales cycles are longer and lean on the roadmap items above.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ED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6C4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ROADMAP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 for Mentora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50012" y="1920240"/>
            <a:ext cx="2057400" cy="356616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3B2E82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258672" y="2148840"/>
            <a:ext cx="640080" cy="640080"/>
          </a:xfrm>
          <a:prstGeom prst="ellipse">
            <a:avLst/>
          </a:prstGeom>
          <a:solidFill>
            <a:srgbClr val="6C4C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pptxbuild/assets/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692" y="23088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7172" y="292608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Smarter Memory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87172" y="3474720"/>
            <a:ext cx="17830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 memory across sessions so the tutor remembers each student's progress and gaps.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2808580" y="1920240"/>
            <a:ext cx="2057400" cy="356616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3B2E82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517240" y="2148840"/>
            <a:ext cx="640080" cy="640080"/>
          </a:xfrm>
          <a:prstGeom prst="ellipse">
            <a:avLst/>
          </a:prstGeom>
          <a:solidFill>
            <a:srgbClr val="6C4C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pptxbuild/assets/icons/uplo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7260" y="230886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945740" y="292608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Your Materials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2945740" y="3474720"/>
            <a:ext cx="17830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shipped for homework — expanding to full course syllabi and slide decks.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067148" y="1920240"/>
            <a:ext cx="2057400" cy="356616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3B2E82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5775808" y="2148840"/>
            <a:ext cx="640080" cy="640080"/>
          </a:xfrm>
          <a:prstGeom prst="ellipse">
            <a:avLst/>
          </a:prstGeom>
          <a:solidFill>
            <a:srgbClr val="6C4C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pptxbuild/assets/icons/w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5828" y="230886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204308" y="292608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Animated Avatar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5204308" y="3474720"/>
            <a:ext cx="17830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fully expressive AI tutor avatar with lip-sync and emotion for a more human feel.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7325716" y="1920240"/>
            <a:ext cx="2057400" cy="356616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3B2E82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8034376" y="2148840"/>
            <a:ext cx="640080" cy="640080"/>
          </a:xfrm>
          <a:prstGeom prst="ellipse">
            <a:avLst/>
          </a:prstGeom>
          <a:solidFill>
            <a:srgbClr val="6C4C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/home/claude/pptxbuild/assets/icons/chartMix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4396" y="2308860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62876" y="292608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462876" y="3474720"/>
            <a:ext cx="17830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insights — weak topics, session history, progress curves — for students and educators.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9584284" y="1920240"/>
            <a:ext cx="2057400" cy="356616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3B2E82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10292944" y="2148840"/>
            <a:ext cx="640080" cy="640080"/>
          </a:xfrm>
          <a:prstGeom prst="ellipse">
            <a:avLst/>
          </a:prstGeom>
          <a:solidFill>
            <a:srgbClr val="6C4C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4" descr="/home/claude/pptxbuild/assets/icons/glob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52964" y="2308860"/>
            <a:ext cx="320040" cy="32004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721444" y="292608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Subjects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9721444" y="3474720"/>
            <a:ext cx="17830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Expanding beyond math — Hebrew, English, and Science for broader learning support.</a:t>
            </a:r>
            <a:endParaRPr lang="en-US" sz="1400" dirty="0"/>
          </a:p>
        </p:txBody>
      </p:sp>
      <p:sp>
        <p:nvSpPr>
          <p:cNvPr id="30" name="Text 23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41B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build/assets/img-068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589520" y="0"/>
            <a:ext cx="459943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772400" cy="6858000"/>
          </a:xfrm>
          <a:prstGeom prst="rect">
            <a:avLst/>
          </a:prstGeom>
          <a:solidFill>
            <a:srgbClr val="241B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640080" y="1051560"/>
            <a:ext cx="6766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Mentora: A Tutor for Every Student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2286000"/>
            <a:ext cx="548640" cy="548640"/>
          </a:xfrm>
          <a:prstGeom prst="ellipse">
            <a:avLst/>
          </a:prstGeom>
          <a:solidFill>
            <a:srgbClr val="FF7A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claude/pptxbuild/assets/icons/bullsey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" y="2409444"/>
            <a:ext cx="301752" cy="30175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71600" y="2267712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Truly Personalized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1371600" y="2587752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B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tutor that explains, questions, and adapts to every student — 24/7.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40080" y="3246120"/>
            <a:ext cx="548640" cy="548640"/>
          </a:xfrm>
          <a:prstGeom prst="ellipse">
            <a:avLst/>
          </a:prstGeom>
          <a:solidFill>
            <a:srgbClr val="FF7A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2" descr="/home/claude/pptxbuild/assets/icons/m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524" y="3369564"/>
            <a:ext cx="301752" cy="30175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371600" y="3227832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Voice Loop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1371600" y="3547872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B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or type — transcribe, reason, and speak back in seconds. Working today.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40080" y="4206240"/>
            <a:ext cx="548640" cy="548640"/>
          </a:xfrm>
          <a:prstGeom prst="ellipse">
            <a:avLst/>
          </a:prstGeom>
          <a:solidFill>
            <a:srgbClr val="FF7A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3" descr="/home/claude/pptxbuild/assets/icons/rock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524" y="4329684"/>
            <a:ext cx="301752" cy="30175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371600" y="4187952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Scale</a:t>
            </a:r>
            <a:endParaRPr lang="en-US" sz="1600" dirty="0"/>
          </a:p>
        </p:txBody>
      </p:sp>
      <p:sp>
        <p:nvSpPr>
          <p:cNvPr id="16" name="Text 10"/>
          <p:cNvSpPr/>
          <p:nvPr/>
        </p:nvSpPr>
        <p:spPr>
          <a:xfrm>
            <a:off x="1371600" y="4507992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B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tested React + FastAPI + GPT stack, ready for new subjects and users.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640080" y="5532120"/>
            <a:ext cx="2011680" cy="0"/>
          </a:xfrm>
          <a:prstGeom prst="line">
            <a:avLst/>
          </a:prstGeom>
          <a:noFill/>
          <a:ln w="38100">
            <a:solidFill>
              <a:srgbClr val="FF7A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2"/>
          <p:cNvSpPr/>
          <p:nvPr/>
        </p:nvSpPr>
        <p:spPr>
          <a:xfrm>
            <a:off x="640080" y="5669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you!</a:t>
            </a:r>
            <a:endParaRPr lang="en-US" sz="2000" dirty="0"/>
          </a:p>
        </p:txBody>
      </p:sp>
      <p:sp>
        <p:nvSpPr>
          <p:cNvPr id="19" name="Text 13"/>
          <p:cNvSpPr/>
          <p:nvPr/>
        </p:nvSpPr>
        <p:spPr>
          <a:xfrm>
            <a:off x="640080" y="61264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B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 Levy &amp; Ben </a:t>
            </a:r>
            <a:r>
              <a:rPr lang="en-US" sz="1200" dirty="0" err="1">
                <a:solidFill>
                  <a:srgbClr val="C9B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Garusi</a:t>
            </a:r>
            <a:r>
              <a:rPr lang="en-US" sz="1200" dirty="0">
                <a:solidFill>
                  <a:srgbClr val="C9B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964</Words>
  <Application>Microsoft Macintosh PowerPoint</Application>
  <PresentationFormat>Widescreen</PresentationFormat>
  <Paragraphs>192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Noa Levy</cp:lastModifiedBy>
  <cp:revision>3</cp:revision>
  <dcterms:created xsi:type="dcterms:W3CDTF">2026-09-05T12:15:55Z</dcterms:created>
  <dcterms:modified xsi:type="dcterms:W3CDTF">2026-09-07T19:19:55Z</dcterms:modified>
</cp:coreProperties>
</file>